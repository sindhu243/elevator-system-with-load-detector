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6BEA6-FF52-2E1B-CEF3-61B329AE38A8}" v="670" dt="2025-10-29T12:27:20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63" d="100"/>
          <a:sy n="63" d="100"/>
        </p:scale>
        <p:origin x="-876" y="-4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78470-9242-4E9C-811C-A13CE59A38E4}" type="datetimeFigureOut">
              <a:rPr lang="en-IN" smtClean="0"/>
              <a:pPr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80A3A-FC66-498A-85EA-86564F44478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4339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99524E-721C-620B-E181-515B9495C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DCA09CB-C74B-7A67-8CEC-F247BDC90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3D77D9-863E-3E58-8C2D-D9028701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77AD-3942-401B-811A-C26ADD98EA2C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AACEF7-8918-A202-4B29-3D4047B0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76A53C-BB58-D921-55D1-B722250E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049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845651-126B-8632-7C8C-827657D3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CF4DE0-281C-54A5-2D31-B6FDD3726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560F6E-30CB-8E7A-E945-72A2E5C32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9DEB-0A6E-4E30-BA7D-5364285EB5FB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F32658-C382-133C-BC63-AB548762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0D0C10-69E6-49B1-1914-F39805A6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5730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CE1591-5015-AE5B-B5CA-EB5E8DCD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3BE5AD-6938-1296-5870-2993A6E12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BE8549-0646-6534-D95D-D125B877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3998-99FA-417D-BB13-773466DD28F9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3DD865-5CE0-AEF6-A410-465F63D2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4A8219-6F5C-ABAA-F091-8ED0DA97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2965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028E26-C090-92DF-4C24-A1940D04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45FDDC-2B17-9F2A-5088-65A6290A7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89A4A51-59D1-D604-6514-408FD4E26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9EA28D2-9144-754C-C6A0-F157FE4A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48F3-6C89-4BE7-9245-1395B3449C3C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84E4C07-283C-57C2-B45C-49EDF8D5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8FA4565-5EE2-3B2D-0D45-6290CCF9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8316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C88EB3-4CAA-C3A0-7756-C9BB5152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0371AA-B8CF-1602-5A2F-4E8837597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3E002A-5802-98A7-065E-629BAEC92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F102620-81D3-FEFD-186A-B48508502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D41FEC1-8701-CEE9-6F50-5F5E1B150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EBA547D-CD2F-95D3-B6F9-C35F8732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AC5C-1583-46E2-A0A9-C707A8F6ED36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89FD150-B3C8-75D2-D60F-C83A2FCF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4C8FBCC-3F7E-8DA8-EAE0-FFB35DBB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716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21101C-3698-F5ED-F72B-F45C438B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8A0484B-58B5-BB42-C2BE-343FD111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4639-9289-4D7A-9EC7-BB8C409B215B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4811E3-1D62-3209-4E35-54455FBA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6F74CC-AD39-786B-C50A-5CF6CF48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6927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2D7C5D5-1B2C-FABF-C562-1D8EA5B4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4D5E-FE58-46AD-BAB4-31C9C86C55DB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278170E-5215-8724-6C4D-E899C435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C18AFDF-F08C-E9EB-8F91-ABF6BDEC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994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C773A8-5536-2475-DE95-639E2BAA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E14203-10CE-D0E4-CC3C-7BD0A4BBA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3EB561-DC10-90C2-62FD-9383A9749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60CA200-B059-075D-C45D-DAB74289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AB-9BF3-42C5-82E3-DEB8032E8A4E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203793D-216A-7E9F-859B-210A7790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A340333-A931-1242-BC9D-6A893E08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9038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AEFC4-28C7-C60A-6A45-87708456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A6DD7B0-E7DA-86A0-3B78-E4ED20BCA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C75524-422C-36F7-DEB7-2678CAAAC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52BBF7-D49A-0DB9-F53D-55D5753A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F822-4183-430D-BD52-2EE74AF2A09D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221B5B-6FA9-5C80-9523-89F45A3B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B3B582E-F1B3-B5CF-7475-A0D3D809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8237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C49B36-3073-0110-6C81-2EA19C02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F94EE1-5EBC-B589-24C7-2810A965E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98E3BA-451B-5980-32A8-78F39423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BCD9-40DF-4226-82FA-7B43C1D5457A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CB6B47-CA54-9CA2-EC9F-D9C8B409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7E4DC91-7A29-DAE4-DFA3-8D3BA358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668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4BEE33B-D7C5-8927-9297-9C3327E5C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01096A5-54C6-18B3-F004-7B7D8F7D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BCE304-62DA-3021-9FFF-CC62C355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4BB2A-4064-4221-9227-2EE4167C935A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D8CD0D6-6F69-D62D-1393-4E900812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AA2AA5-37FB-807E-DA0D-AF0C492E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812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3E76890-2B94-53B6-9096-6138D676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336B4C-AF43-48D5-1864-0892FDF5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B7860B-6D18-9374-B9DB-B7A320E86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1AB17-0BBD-488F-AC88-662DAD1BDD02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6BAE5E-7E26-54A4-42E4-025B652FC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95CD38-4C0F-56E7-A9AC-F619DFEA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C96DD-25F6-41FA-A47B-03FBA81D14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2596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09E12D2-6F67-24E4-FA8F-26AD7CE9D6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343" y="71293"/>
            <a:ext cx="2199660" cy="1108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FE5C1330-9212-DB91-93FF-1B25514CC7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6737" t="9425" r="9081" b="14499"/>
          <a:stretch>
            <a:fillRect/>
          </a:stretch>
        </p:blipFill>
        <p:spPr>
          <a:xfrm>
            <a:off x="9800997" y="71293"/>
            <a:ext cx="1969981" cy="1108550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xmlns="" id="{653E329A-88FB-C762-0EB2-C1547758512E}"/>
              </a:ext>
            </a:extLst>
          </p:cNvPr>
          <p:cNvSpPr txBox="1"/>
          <p:nvPr/>
        </p:nvSpPr>
        <p:spPr>
          <a:xfrm>
            <a:off x="648420" y="968388"/>
            <a:ext cx="10895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E353E66D-0A8A-AEB9-4F90-1010613E5438}"/>
              </a:ext>
            </a:extLst>
          </p:cNvPr>
          <p:cNvSpPr/>
          <p:nvPr/>
        </p:nvSpPr>
        <p:spPr>
          <a:xfrm>
            <a:off x="3748513" y="1406188"/>
            <a:ext cx="4966485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b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Mini Project  Presentation 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F115A13-B09E-D722-1535-2B09DD4B8410}"/>
              </a:ext>
            </a:extLst>
          </p:cNvPr>
          <p:cNvSpPr/>
          <p:nvPr/>
        </p:nvSpPr>
        <p:spPr>
          <a:xfrm>
            <a:off x="2064238" y="2469251"/>
            <a:ext cx="8335034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528DD2"/>
                </a:solidFill>
                <a:latin typeface="Times New Roman"/>
                <a:ea typeface="Calibri"/>
                <a:cs typeface="Times New Roman"/>
              </a:rPr>
              <a:t>“Elevator system with Load detector”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330CCA8A-86DE-9820-B3E5-8278B4247D41}"/>
              </a:ext>
            </a:extLst>
          </p:cNvPr>
          <p:cNvSpPr/>
          <p:nvPr/>
        </p:nvSpPr>
        <p:spPr>
          <a:xfrm>
            <a:off x="913300" y="3227198"/>
            <a:ext cx="10129421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endParaRPr lang="en-US" b="1" u="sng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P SINDHU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3BR23EE023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Akhila.v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3BR23EE009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Avinash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Reddy 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3BR23EE013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Basavaraj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3BR23EE018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8B1027B-1484-DDC1-CF3D-9E512175D996}"/>
              </a:ext>
            </a:extLst>
          </p:cNvPr>
          <p:cNvSpPr/>
          <p:nvPr/>
        </p:nvSpPr>
        <p:spPr>
          <a:xfrm>
            <a:off x="1159682" y="5062705"/>
            <a:ext cx="276199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Guidance of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4D29033-D531-2B8E-AAA6-EEFA9FB16D0A}"/>
              </a:ext>
            </a:extLst>
          </p:cNvPr>
          <p:cNvSpPr/>
          <p:nvPr/>
        </p:nvSpPr>
        <p:spPr>
          <a:xfrm>
            <a:off x="7975591" y="5470791"/>
            <a:ext cx="3890317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SHARANA REDDY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Professor &amp; HOD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252B0F4-FBD3-8D31-CA38-AAC239228150}"/>
              </a:ext>
            </a:extLst>
          </p:cNvPr>
          <p:cNvSpPr txBox="1"/>
          <p:nvPr/>
        </p:nvSpPr>
        <p:spPr>
          <a:xfrm>
            <a:off x="1875661" y="178257"/>
            <a:ext cx="7925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BALLARI INSTITUTE OF TECHNOLOGY &amp; MANAGEMENT </a:t>
            </a: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Institute under VTU, </a:t>
            </a:r>
            <a:r>
              <a:rPr lang="it-IT" sz="18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Ballari-Hosapete Road, Allipur, </a:t>
            </a:r>
            <a:r>
              <a:rPr lang="en-IN" sz="18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Ballari-583 104 Karnataka, India</a:t>
            </a:r>
            <a:endParaRPr lang="en-IN" sz="1800" b="0" i="0" u="none" strike="noStrike" baseline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9706EF0-DB87-5AC4-A139-F6311EF36C48}"/>
              </a:ext>
            </a:extLst>
          </p:cNvPr>
          <p:cNvSpPr txBox="1"/>
          <p:nvPr/>
        </p:nvSpPr>
        <p:spPr>
          <a:xfrm>
            <a:off x="8817908" y="5105515"/>
            <a:ext cx="2553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Head of the Department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9AFBFF-FE9A-7E4D-E9B5-4747B454713B}"/>
              </a:ext>
            </a:extLst>
          </p:cNvPr>
          <p:cNvSpPr txBox="1"/>
          <p:nvPr/>
        </p:nvSpPr>
        <p:spPr>
          <a:xfrm>
            <a:off x="4630037" y="5057503"/>
            <a:ext cx="29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Section Project Coordinator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EE8B8FD-2D45-B546-4F53-94B152D3BA91}"/>
              </a:ext>
            </a:extLst>
          </p:cNvPr>
          <p:cNvSpPr/>
          <p:nvPr/>
        </p:nvSpPr>
        <p:spPr>
          <a:xfrm>
            <a:off x="4150841" y="5378458"/>
            <a:ext cx="3890317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SHASHIDHARA B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2F5DAD9-D912-AB25-C8F8-FB47A85CEC92}"/>
              </a:ext>
            </a:extLst>
          </p:cNvPr>
          <p:cNvSpPr/>
          <p:nvPr/>
        </p:nvSpPr>
        <p:spPr>
          <a:xfrm>
            <a:off x="429323" y="5393208"/>
            <a:ext cx="3890317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Mis.ARATHI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 B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Designation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346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EB857FC4-E71F-2289-86EE-771222EC6BE1}"/>
              </a:ext>
            </a:extLst>
          </p:cNvPr>
          <p:cNvSpPr>
            <a:spLocks noGrp="1"/>
          </p:cNvSpPr>
          <p:nvPr/>
        </p:nvSpPr>
        <p:spPr>
          <a:xfrm>
            <a:off x="576488" y="94241"/>
            <a:ext cx="10606404" cy="6325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9C479B1D-2218-5671-6316-174CE93F2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953" y="1068185"/>
            <a:ext cx="10991186" cy="5017983"/>
          </a:xfrm>
        </p:spPr>
        <p:txBody>
          <a:bodyPr numCol="2">
            <a:noAutofit/>
          </a:bodyPr>
          <a:lstStyle/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v/s Proposed System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34C1674-08B7-4B88-E545-CA9BC93D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C0FCB-D0EC-4F47-A74A-3CC3742FB92F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47147D7-2C9C-DA99-C4FE-31FECF1C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US" sz="1600" dirty="0">
              <a:solidFill>
                <a:schemeClr val="tx1">
                  <a:lumMod val="49000"/>
                  <a:lumOff val="51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33D3CCD-411B-5D0A-BEEE-FFDABD3E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8776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DBBEDB20-637D-9291-3B45-23781511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563" y="157639"/>
            <a:ext cx="4049966" cy="499891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6586A17-26C9-23E0-A100-DD1ABAEB1F5D}"/>
              </a:ext>
            </a:extLst>
          </p:cNvPr>
          <p:cNvSpPr txBox="1"/>
          <p:nvPr/>
        </p:nvSpPr>
        <p:spPr>
          <a:xfrm>
            <a:off x="816077" y="1140542"/>
            <a:ext cx="10559845" cy="5350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Elevators are essential for vertical transportation in modern multi-</a:t>
            </a:r>
            <a:r>
              <a:rPr lang="en-US" sz="2200" err="1">
                <a:latin typeface="Times New Roman"/>
                <a:ea typeface="+mn-lt"/>
                <a:cs typeface="+mn-lt"/>
              </a:rPr>
              <a:t>storey</a:t>
            </a:r>
            <a:r>
              <a:rPr lang="en-US" sz="2200" dirty="0">
                <a:latin typeface="Times New Roman"/>
                <a:ea typeface="+mn-lt"/>
                <a:cs typeface="+mn-lt"/>
              </a:rPr>
              <a:t> buildings.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Increased usage demands enhanced safety, efficiency, and intelligent control.</a:t>
            </a: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The system integrates a load detection mechanism to ensure safe operation within rated capacity.</a:t>
            </a: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The project simulates an elevator system that detects the weight and number of passengers inside the cabin.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When the load exceeds the predefined threshold, the system:</a:t>
            </a:r>
            <a:endParaRPr lang="en-US" sz="2200">
              <a:latin typeface="Times New Roman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Alerts users through visual or audio warnings.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Disables elevator movement to prevent mechanical failures or accidents.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Wingdings" panose="020B0604020202020204" pitchFamily="34" charset="0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66CBE5E-818D-50AA-4DE9-5824DAFA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93BD-024F-4B14-8CC3-C7BBA0DB6F76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EBDAFF-BF22-F36F-9F1C-0AE27DF7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E4ACCE-B424-1A51-EEDB-D3393833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9523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BABCBB58-7697-22DD-1107-BB33FB430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69" y="28949"/>
            <a:ext cx="10606404" cy="54298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0C2A92-6EB7-8999-D825-D716CF65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BD60-5B8B-4934-BE44-57FB3AD00FE2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17EE912-9BE8-C98B-DCB7-55B18FA2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F5830A-CC81-D41A-6D9F-B7574066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2632702-4C8A-C62B-35EA-7FB2CB36A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23738926"/>
              </p:ext>
            </p:extLst>
          </p:nvPr>
        </p:nvGraphicFramePr>
        <p:xfrm>
          <a:off x="265814" y="578766"/>
          <a:ext cx="11487902" cy="5852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0292">
                  <a:extLst>
                    <a:ext uri="{9D8B030D-6E8A-4147-A177-3AD203B41FA5}">
                      <a16:colId xmlns:a16="http://schemas.microsoft.com/office/drawing/2014/main" xmlns="" val="2020802880"/>
                    </a:ext>
                  </a:extLst>
                </a:gridCol>
                <a:gridCol w="2494930">
                  <a:extLst>
                    <a:ext uri="{9D8B030D-6E8A-4147-A177-3AD203B41FA5}">
                      <a16:colId xmlns:a16="http://schemas.microsoft.com/office/drawing/2014/main" xmlns="" val="3516001817"/>
                    </a:ext>
                  </a:extLst>
                </a:gridCol>
                <a:gridCol w="1818167">
                  <a:extLst>
                    <a:ext uri="{9D8B030D-6E8A-4147-A177-3AD203B41FA5}">
                      <a16:colId xmlns:a16="http://schemas.microsoft.com/office/drawing/2014/main" xmlns="" val="1350054336"/>
                    </a:ext>
                  </a:extLst>
                </a:gridCol>
                <a:gridCol w="1959580">
                  <a:extLst>
                    <a:ext uri="{9D8B030D-6E8A-4147-A177-3AD203B41FA5}">
                      <a16:colId xmlns:a16="http://schemas.microsoft.com/office/drawing/2014/main" xmlns="" val="813544437"/>
                    </a:ext>
                  </a:extLst>
                </a:gridCol>
                <a:gridCol w="2270281">
                  <a:extLst>
                    <a:ext uri="{9D8B030D-6E8A-4147-A177-3AD203B41FA5}">
                      <a16:colId xmlns:a16="http://schemas.microsoft.com/office/drawing/2014/main" xmlns="" val="2104109763"/>
                    </a:ext>
                  </a:extLst>
                </a:gridCol>
                <a:gridCol w="1914652">
                  <a:extLst>
                    <a:ext uri="{9D8B030D-6E8A-4147-A177-3AD203B41FA5}">
                      <a16:colId xmlns:a16="http://schemas.microsoft.com/office/drawing/2014/main" xmlns="" val="1370374930"/>
                    </a:ext>
                  </a:extLst>
                </a:gridCol>
              </a:tblGrid>
              <a:tr h="335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SL. No.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Title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Author Name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Publication Date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Methodology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Limitations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6173006"/>
                  </a:ext>
                </a:extLst>
              </a:tr>
              <a:tr h="1842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1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i="1" dirty="0">
                          <a:latin typeface="Times New Roman"/>
                        </a:rPr>
                        <a:t>Design and Implementation of Smart Elevator Control System with Load Monitoring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Dr. A. Kumar, P. Singh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March 2021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Developed a microcontroller-based elevator model with load sensors for safety control and floor movement automation.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Limited to 3 floors; lacks wireless communication and real-time data logging.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1569580"/>
                  </a:ext>
                </a:extLst>
              </a:tr>
              <a:tr h="1786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2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i="1" dirty="0">
                          <a:latin typeface="Times New Roman"/>
                        </a:rPr>
                        <a:t>IoT-Based Elevator Overload Detection and Alert System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S. Reddy, M. Das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July 2022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Used IoT sensors (load cell + </a:t>
                      </a:r>
                      <a:r>
                        <a:rPr lang="en-US" err="1">
                          <a:latin typeface="Times New Roman"/>
                        </a:rPr>
                        <a:t>NodeMCU</a:t>
                      </a:r>
                      <a:r>
                        <a:rPr lang="en-US" dirty="0">
                          <a:latin typeface="Times New Roman"/>
                        </a:rPr>
                        <a:t>) for real-time overload detection and remote monitoring through cloud dashboard.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Internet dependency; higher power consumption; complex calibration.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95135013"/>
                  </a:ext>
                </a:extLst>
              </a:tr>
              <a:tr h="14545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3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i="1" dirty="0">
                          <a:latin typeface="Times New Roman"/>
                        </a:rPr>
                        <a:t>Embedded Load Sensing for Elevator Safety Systems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R. Mehta, L. Sharma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January 2023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Implemented load detection using strain gauge sensors with embedded logic for safety alerts.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</a:rPr>
                        <a:t>Limited accuracy due to sensor drift; not integrated with advanced motor control.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99192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6501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985BC6D2-12F7-5292-6EF8-AA0881C3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34" y="174556"/>
            <a:ext cx="10606404" cy="632512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7270473-4778-6C37-6909-01674086A929}"/>
              </a:ext>
            </a:extLst>
          </p:cNvPr>
          <p:cNvSpPr txBox="1"/>
          <p:nvPr/>
        </p:nvSpPr>
        <p:spPr>
          <a:xfrm>
            <a:off x="727015" y="946490"/>
            <a:ext cx="10727321" cy="55999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In modern buildings, elevators are widely used for vertical transportation, requiring high levels of safety and efficiency.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Traditional elevator systems lack an effective load monitoring mechanism, making them unable to detect when the cabin is overloaded.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Overloading can lead to mechanical strain, system malfunction, reduced performance, and even safety hazards for passengers.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There is a need for an intelligent system that can automatically detect and respond to excess load conditions before elevator movement occurs.</a:t>
            </a:r>
            <a:endParaRPr lang="en-US" sz="22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The proposed project aims to develop and simulate an elevator system integrated with a load detection feature, ensuring safe operation and preventing accidents due to overloading.</a:t>
            </a:r>
          </a:p>
          <a:p>
            <a:pPr marL="342900" indent="-342900">
              <a:lnSpc>
                <a:spcPct val="150000"/>
              </a:lnSpc>
              <a:buFont typeface="Wingdings" panose="020B0604020202020204" pitchFamily="34" charset="0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C62929-4046-0DCA-1395-F9F473CE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3702-B056-4C01-B909-81F81B13D236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9A990B5-65ED-744B-F027-A40C49A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C59C75-3FCC-31FF-3BCB-AEDCED79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8842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B08DED1F-B2FC-FCD8-DC5A-EFD2F83F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34" y="223983"/>
            <a:ext cx="10606404" cy="632512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64CD00A-B030-4AEA-17C8-B1BEA61935E1}"/>
              </a:ext>
            </a:extLst>
          </p:cNvPr>
          <p:cNvSpPr txBox="1"/>
          <p:nvPr/>
        </p:nvSpPr>
        <p:spPr>
          <a:xfrm>
            <a:off x="422787" y="1111045"/>
            <a:ext cx="11040996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To design and develop a simulated elevator system integrated with a load detection mechanism for enhanced safety and performance.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To implement sensor-based load monitoring that detects the weight and number of passengers inside the cabin in real time.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To incorporate safety and alert features that warn users and restrict elevator movement when the load exceeds the rated capacity.</a:t>
            </a: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To demonstrate the working principle of intelligent elevator control systems using embedded technologies and automation logic.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1748050-9966-3521-ACD3-C79C5CAA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7A9A-B684-465E-9D49-527ECF45E333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D4D6DE0-9FB4-A1A0-3D95-24B49AA8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D700DA0-25F5-9DBE-1E96-EE8058E0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9139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03AFD0A8-C3CF-FBF1-50A7-7746DDC8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1999" cy="73753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3727BF7-8CB8-D3ED-2D2E-693B6096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2DB7-D7D6-4588-8977-D5B49031B714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C8BA5C5-41EE-EC77-C3E0-4CC22329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8E3ACF-035F-521D-F2DD-598F209E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A041A18-6FA0-5BAB-4B5E-9DA5A5DB3538}"/>
              </a:ext>
            </a:extLst>
          </p:cNvPr>
          <p:cNvSpPr/>
          <p:nvPr/>
        </p:nvSpPr>
        <p:spPr>
          <a:xfrm>
            <a:off x="4700858" y="1356391"/>
            <a:ext cx="2829801" cy="38434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Arduino Nano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(Microcontroller 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D99BFFF-D0D9-BFF7-BF4D-1DE7FAA4960C}"/>
              </a:ext>
            </a:extLst>
          </p:cNvPr>
          <p:cNvSpPr/>
          <p:nvPr/>
        </p:nvSpPr>
        <p:spPr>
          <a:xfrm>
            <a:off x="8129053" y="1627674"/>
            <a:ext cx="1946158" cy="8356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LCD Display 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3131E6A-2960-EA8A-7527-03EFED6327F2}"/>
              </a:ext>
            </a:extLst>
          </p:cNvPr>
          <p:cNvSpPr/>
          <p:nvPr/>
        </p:nvSpPr>
        <p:spPr>
          <a:xfrm>
            <a:off x="2281699" y="1760482"/>
            <a:ext cx="1773905" cy="59130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  <a:ea typeface="Calibri"/>
                <a:cs typeface="Calibri"/>
              </a:rPr>
              <a:t>Proximity Sensor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641A5E2-4443-D0D5-B1B4-9D9D4A38AD91}"/>
              </a:ext>
            </a:extLst>
          </p:cNvPr>
          <p:cNvSpPr/>
          <p:nvPr/>
        </p:nvSpPr>
        <p:spPr>
          <a:xfrm>
            <a:off x="2270153" y="2826408"/>
            <a:ext cx="1773905" cy="59130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Buzzer 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4CE40BD-9AF9-E5DB-E254-E1A0D93BDA2F}"/>
              </a:ext>
            </a:extLst>
          </p:cNvPr>
          <p:cNvSpPr/>
          <p:nvPr/>
        </p:nvSpPr>
        <p:spPr>
          <a:xfrm>
            <a:off x="2304789" y="3940701"/>
            <a:ext cx="1773905" cy="59130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Servo Motor 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6607D73-CEA8-C9A2-A736-097E31744072}"/>
              </a:ext>
            </a:extLst>
          </p:cNvPr>
          <p:cNvSpPr/>
          <p:nvPr/>
        </p:nvSpPr>
        <p:spPr>
          <a:xfrm>
            <a:off x="8250123" y="3694310"/>
            <a:ext cx="1946158" cy="8356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Power Supply 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3BEEF5DC-0A37-5D5C-603B-33BD1C708ADD}"/>
              </a:ext>
            </a:extLst>
          </p:cNvPr>
          <p:cNvCxnSpPr>
            <a:cxnSpLocks/>
          </p:cNvCxnSpPr>
          <p:nvPr/>
        </p:nvCxnSpPr>
        <p:spPr>
          <a:xfrm>
            <a:off x="4205707" y="2043912"/>
            <a:ext cx="422358" cy="1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EC383503-08AD-17E3-CBC6-AAEF7852F1E8}"/>
              </a:ext>
            </a:extLst>
          </p:cNvPr>
          <p:cNvCxnSpPr>
            <a:cxnSpLocks/>
          </p:cNvCxnSpPr>
          <p:nvPr/>
        </p:nvCxnSpPr>
        <p:spPr>
          <a:xfrm>
            <a:off x="4194161" y="3171622"/>
            <a:ext cx="422358" cy="1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4C02DF8C-6B35-1611-1DF4-7F4FB767764C}"/>
              </a:ext>
            </a:extLst>
          </p:cNvPr>
          <p:cNvCxnSpPr>
            <a:cxnSpLocks/>
          </p:cNvCxnSpPr>
          <p:nvPr/>
        </p:nvCxnSpPr>
        <p:spPr>
          <a:xfrm>
            <a:off x="4228798" y="4224131"/>
            <a:ext cx="422358" cy="1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3728483-BFD3-DC56-E64C-D838694817E0}"/>
              </a:ext>
            </a:extLst>
          </p:cNvPr>
          <p:cNvCxnSpPr>
            <a:cxnSpLocks/>
          </p:cNvCxnSpPr>
          <p:nvPr/>
        </p:nvCxnSpPr>
        <p:spPr>
          <a:xfrm>
            <a:off x="7538287" y="2093213"/>
            <a:ext cx="422358" cy="1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943FCDB-71D0-E13C-962F-34E1FE3E41B5}"/>
              </a:ext>
            </a:extLst>
          </p:cNvPr>
          <p:cNvCxnSpPr>
            <a:cxnSpLocks/>
          </p:cNvCxnSpPr>
          <p:nvPr/>
        </p:nvCxnSpPr>
        <p:spPr>
          <a:xfrm>
            <a:off x="7576979" y="4159850"/>
            <a:ext cx="422358" cy="1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2522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CE7A0E65-3BAE-4A5B-8354-B1E8535E9682}"/>
              </a:ext>
            </a:extLst>
          </p:cNvPr>
          <p:cNvSpPr txBox="1">
            <a:spLocks/>
          </p:cNvSpPr>
          <p:nvPr/>
        </p:nvSpPr>
        <p:spPr>
          <a:xfrm>
            <a:off x="1310054" y="0"/>
            <a:ext cx="9571892" cy="71515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0605732-FD7F-93B0-8265-2680F66B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C4C8-0BCC-4950-8CED-1A52C95AE7B5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C88F2CD-E8E7-3CBE-B546-522B640D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D98B818-5C8E-2512-AC24-12377DE7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8</a:t>
            </a:fld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25C75628-1D4E-FC3A-3001-9183FF394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94952127"/>
              </p:ext>
            </p:extLst>
          </p:nvPr>
        </p:nvGraphicFramePr>
        <p:xfrm>
          <a:off x="513906" y="859465"/>
          <a:ext cx="11262666" cy="4787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72714">
                  <a:extLst>
                    <a:ext uri="{9D8B030D-6E8A-4147-A177-3AD203B41FA5}">
                      <a16:colId xmlns:a16="http://schemas.microsoft.com/office/drawing/2014/main" xmlns="" val="4273736019"/>
                    </a:ext>
                  </a:extLst>
                </a:gridCol>
                <a:gridCol w="1856867">
                  <a:extLst>
                    <a:ext uri="{9D8B030D-6E8A-4147-A177-3AD203B41FA5}">
                      <a16:colId xmlns:a16="http://schemas.microsoft.com/office/drawing/2014/main" xmlns="" val="2073256945"/>
                    </a:ext>
                  </a:extLst>
                </a:gridCol>
                <a:gridCol w="3760390">
                  <a:extLst>
                    <a:ext uri="{9D8B030D-6E8A-4147-A177-3AD203B41FA5}">
                      <a16:colId xmlns:a16="http://schemas.microsoft.com/office/drawing/2014/main" xmlns="" val="2906600033"/>
                    </a:ext>
                  </a:extLst>
                </a:gridCol>
                <a:gridCol w="3172695">
                  <a:extLst>
                    <a:ext uri="{9D8B030D-6E8A-4147-A177-3AD203B41FA5}">
                      <a16:colId xmlns:a16="http://schemas.microsoft.com/office/drawing/2014/main" xmlns="" val="2697729540"/>
                    </a:ext>
                  </a:extLst>
                </a:gridCol>
              </a:tblGrid>
              <a:tr h="670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REFERENCE NUMBER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PARAMETER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EXISTING SYSTEM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PROPOSED SYSTEM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8391981"/>
                  </a:ext>
                </a:extLst>
              </a:tr>
              <a:tr h="1244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[1]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Load Detection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Most elevators lack integrated load detection or rely on simple mechanical limit switches.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Uses electronic load sensors (e.g., proximity or load cell sensors) for precise real-time weight measurement.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4510133"/>
                  </a:ext>
                </a:extLst>
              </a:tr>
              <a:tr h="9575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[2]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Safety Mechanism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Safety depends mainly on manual inspection or emergency braking systems.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Automatic alert and shutdown when load exceeds threshold, ensuring passenger safety.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66447570"/>
                  </a:ext>
                </a:extLst>
              </a:tr>
              <a:tr h="9575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[3]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Automation Level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Partially automated with limited smart control features.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Fully automated system with embedded controller-based logic for movement and safety.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3118726"/>
                  </a:ext>
                </a:extLst>
              </a:tr>
              <a:tr h="9575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[4]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User Feedback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Minimal user indication; overload often detected only after malfunction.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Times New Roman"/>
                        </a:rPr>
                        <a:t>Visual and audio alerts inform users immediately when overloaded.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03572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1811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8512DB9-4464-64E0-62A5-F72836CB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3753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878C69-1D20-A3F2-DD26-1CADDF087B3D}"/>
              </a:ext>
            </a:extLst>
          </p:cNvPr>
          <p:cNvSpPr txBox="1"/>
          <p:nvPr/>
        </p:nvSpPr>
        <p:spPr>
          <a:xfrm>
            <a:off x="741680" y="1200024"/>
            <a:ext cx="9592038" cy="44579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ea typeface="Cascadia Code" panose="020B0609020000020004" pitchFamily="49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1.Arduino Nano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2.Proximity Sensor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3.Servo Motor</a:t>
            </a:r>
            <a:endParaRPr lang="en-US" sz="2400" dirty="0"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ea typeface="Cascadia Code" panose="020B0609020000020004" pitchFamily="49" charset="0"/>
                <a:cs typeface="Times New Roman"/>
              </a:rPr>
              <a:t>4.Gear Motor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ea typeface="Cascadia Code" panose="020B0609020000020004" pitchFamily="49" charset="0"/>
                <a:cs typeface="Times New Roman"/>
              </a:rPr>
              <a:t>5.Motor Driver</a:t>
            </a: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ea typeface="Cascadia Code" panose="020B0609020000020004" pitchFamily="49" charset="0"/>
                <a:cs typeface="Times New Roman" panose="02020603050405020304" pitchFamily="18" charset="0"/>
              </a:rPr>
              <a:t>Software Requirements: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ea typeface="Cascadia Code" panose="020B0609020000020004" pitchFamily="49" charset="0"/>
                <a:cs typeface="Times New Roman"/>
              </a:rPr>
              <a:t>1.Arduino IDE</a:t>
            </a:r>
            <a:endParaRPr lang="en-US" sz="2400" dirty="0"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3255F20-E7C2-7413-828B-F51CF239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CC2E-41BD-4A8E-8746-3DA9D05FCCDD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AC65E294-44F1-C608-F1F7-F9F8DBC6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A857931F-CD21-1A51-8621-DC573DAC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86206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6D4B0A6C-E11E-8EFB-A2D9-B977709C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912" y="216310"/>
            <a:ext cx="3000175" cy="74134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131EBE5-4C6B-A2ED-C7B6-119E452E7984}"/>
              </a:ext>
            </a:extLst>
          </p:cNvPr>
          <p:cNvSpPr txBox="1"/>
          <p:nvPr/>
        </p:nvSpPr>
        <p:spPr>
          <a:xfrm>
            <a:off x="629263" y="957650"/>
            <a:ext cx="11103135" cy="52791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Successful design and simulation of an elevator system integrated with a load detection mechanism.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Accurate detection of passenger weight and overload conditions using sensors.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Automatic alert system that warns users when the elevator exceeds its rated capacity.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Enhanced safety and reliability through automatic movement restriction during overload.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Demonstration of embedded system integration, combining sensors, microcontrollers, and control logic.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endParaRPr lang="en-US" sz="22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 Development of a cost-effective and scalable model suitable for educational and prototype applications.</a:t>
            </a:r>
            <a:endParaRPr lang="en-US" sz="2200">
              <a:latin typeface="Times New Roman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Wingdings" panose="020B0604020202020204" pitchFamily="34" charset="0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16B6525-D23C-58FD-200D-CA9A1019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0DC-B94E-4748-87D8-04023E07126B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FAB4A05-CBC3-B87D-28BC-FDBFD21B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5D98F9-5E10-78FA-B2FD-627C6F30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7917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F6831D2-2BA0-BBD3-33E6-754361A7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054" y="0"/>
            <a:ext cx="9571892" cy="88011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7B9620-248C-C43B-CBD0-1D0F76AD1402}"/>
              </a:ext>
            </a:extLst>
          </p:cNvPr>
          <p:cNvSpPr txBox="1"/>
          <p:nvPr/>
        </p:nvSpPr>
        <p:spPr>
          <a:xfrm>
            <a:off x="629262" y="957650"/>
            <a:ext cx="11110453" cy="53812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400" dirty="0">
                <a:latin typeface="Times New Roman"/>
                <a:ea typeface="+mn-lt"/>
                <a:cs typeface="+mn-lt"/>
              </a:rPr>
              <a:t> Used in commercial buildings, shopping malls, and hospitals to ensure safe elevator operation and prevent overloading.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400" dirty="0">
                <a:latin typeface="Times New Roman"/>
                <a:ea typeface="+mn-lt"/>
                <a:cs typeface="+mn-lt"/>
              </a:rPr>
              <a:t> Applicable in residential apartments for improved safety and system reliability.</a:t>
            </a:r>
            <a:endParaRPr lang="en-US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400" dirty="0">
                <a:latin typeface="Times New Roman"/>
                <a:ea typeface="+mn-lt"/>
                <a:cs typeface="+mn-lt"/>
              </a:rPr>
              <a:t> Can be integrated into industrial elevators and freight lifts to monitor heavy material loads.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400" dirty="0">
                <a:latin typeface="Times New Roman"/>
                <a:ea typeface="+mn-lt"/>
                <a:cs typeface="+mn-lt"/>
              </a:rPr>
              <a:t> Useful in smart building automation systems for real-time monitoring and control.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400" dirty="0">
                <a:latin typeface="Times New Roman"/>
                <a:ea typeface="+mn-lt"/>
                <a:cs typeface="+mn-lt"/>
              </a:rPr>
              <a:t> Helpful for educational and research projects to demonstrate embedded safety mechanisms.</a:t>
            </a:r>
            <a:endParaRPr lang="en-US">
              <a:latin typeface="Times New Roman"/>
              <a:ea typeface="Calibri"/>
              <a:cs typeface="Calibri"/>
            </a:endParaRPr>
          </a:p>
          <a:p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20B0604020202020204" pitchFamily="34" charset="0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6C539C6-3306-34EE-62A3-3E614061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2EE6C-9727-4374-B2CC-591305C90A3B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B984A22-1909-0464-F349-982734EC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89B99C-18AD-9FE0-5196-F510406F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2824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FDB0CBEB-B67D-0AC6-022D-E3B4CBBD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34" y="174556"/>
            <a:ext cx="10606404" cy="63251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05F63F5-4B66-F332-66A0-45BA8E37B4F6}"/>
              </a:ext>
            </a:extLst>
          </p:cNvPr>
          <p:cNvSpPr txBox="1"/>
          <p:nvPr/>
        </p:nvSpPr>
        <p:spPr>
          <a:xfrm>
            <a:off x="629262" y="957650"/>
            <a:ext cx="11110453" cy="50119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latin typeface="Times New Roman"/>
                <a:ea typeface="+mn-lt"/>
                <a:cs typeface="+mn-lt"/>
              </a:rPr>
              <a:t>[1] A. Kumar and P. Singh, “Design and Implementation of Smart Elevator Control System with Load Monitoring,” </a:t>
            </a:r>
            <a:r>
              <a:rPr lang="en-US" sz="2400" i="1" dirty="0">
                <a:latin typeface="Times New Roman"/>
                <a:ea typeface="+mn-lt"/>
                <a:cs typeface="+mn-lt"/>
              </a:rPr>
              <a:t>International Journal of Advanced Research in Electrical, Electronics and Instrumentation Engineering</a:t>
            </a:r>
            <a:r>
              <a:rPr lang="en-US" sz="2400" dirty="0">
                <a:latin typeface="Times New Roman"/>
                <a:ea typeface="+mn-lt"/>
                <a:cs typeface="+mn-lt"/>
              </a:rPr>
              <a:t>, vol. 10, no. 3, pp. 120–126, Mar. 2021.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endParaRPr lang="en-US" sz="2400" dirty="0">
              <a:latin typeface="Times New Roman"/>
              <a:ea typeface="+mn-lt"/>
              <a:cs typeface="+mn-lt"/>
            </a:endParaRPr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[2] S. Reddy and M. Das, “IoT-Based Elevator Overload Detection and Alert System,” </a:t>
            </a:r>
            <a:r>
              <a:rPr lang="en-US" sz="2400" i="1" dirty="0">
                <a:latin typeface="Times New Roman"/>
                <a:ea typeface="+mn-lt"/>
                <a:cs typeface="+mn-lt"/>
              </a:rPr>
              <a:t>IEEE International Conference on Internet of Things and Applications (IOTA)</a:t>
            </a:r>
            <a:r>
              <a:rPr lang="en-US" sz="2400" dirty="0">
                <a:latin typeface="Times New Roman"/>
                <a:ea typeface="+mn-lt"/>
                <a:cs typeface="+mn-lt"/>
              </a:rPr>
              <a:t>, pp. 45–50, Jul. 2022.</a:t>
            </a:r>
            <a:endParaRPr lang="en-US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latin typeface="Times New Roman"/>
              <a:ea typeface="+mn-lt"/>
              <a:cs typeface="+mn-lt"/>
            </a:endParaRPr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[3] R. Mehta and L. Sharma, “Embedded Load Sensing for Elevator Safety Systems,” </a:t>
            </a:r>
            <a:r>
              <a:rPr lang="en-US" sz="2400" i="1" dirty="0">
                <a:latin typeface="Times New Roman"/>
                <a:ea typeface="+mn-lt"/>
                <a:cs typeface="+mn-lt"/>
              </a:rPr>
              <a:t>International Journal of Embedded Systems and Applications (IJESA)</a:t>
            </a:r>
            <a:r>
              <a:rPr lang="en-US" sz="2400" dirty="0">
                <a:latin typeface="Times New Roman"/>
                <a:ea typeface="+mn-lt"/>
                <a:cs typeface="+mn-lt"/>
              </a:rPr>
              <a:t>, vol. 9, no. 1, pp. 33–40, Jan. 2023.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DC137C4-053F-BA1D-819A-9F7442FA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171-EE75-4EC3-9571-0FE1D4AEC24F}" type="datetime1">
              <a:rPr lang="en-IN" smtClean="0"/>
              <a:pPr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465C6A5-A25C-2B9D-5D9C-C271B128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“Elevator system with Load detector”</a:t>
            </a:r>
            <a:endParaRPr lang="en-I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27E7BC-B614-512B-99BB-7B163495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96DD-25F6-41FA-A47B-03FBA81D14E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4211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1107</Words>
  <Application>Microsoft Office PowerPoint</Application>
  <PresentationFormat>Custom</PresentationFormat>
  <Paragraphs>193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 Introduction  </vt:lpstr>
      <vt:lpstr> Literature Survey </vt:lpstr>
      <vt:lpstr> Problem Statement  </vt:lpstr>
      <vt:lpstr> Objectives </vt:lpstr>
      <vt:lpstr>Methodology</vt:lpstr>
      <vt:lpstr>Slide 8</vt:lpstr>
      <vt:lpstr>Requirements</vt:lpstr>
      <vt:lpstr>Expected Outcomes</vt:lpstr>
      <vt:lpstr>Applications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TEJASHWINI</dc:creator>
  <cp:lastModifiedBy>TEJASHWINI</cp:lastModifiedBy>
  <cp:revision>163</cp:revision>
  <dcterms:created xsi:type="dcterms:W3CDTF">2025-08-25T15:36:45Z</dcterms:created>
  <dcterms:modified xsi:type="dcterms:W3CDTF">2025-11-10T13:50:18Z</dcterms:modified>
</cp:coreProperties>
</file>